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relatório semanal de atividades, período de 23 a 27 de março. Sincronizado com os chamados do 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consolidada: 128 movimentações no período. 96 chamados operacionais, 7 repactuações de prazo e 32 atividades manuais registradas.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Distribuição dos chamados por status. Destaque para os 38 concluídos — quase 40% do volume total da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frentes no SAP: correção do cálculo de comissão nos Documentos de Marketing e manutenção nos campos de Margem, com nova visualização do valor real no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Nova consulta de ICMS na tela de Entrega, para emissão de nota fiscal pelo portal. Solicitação do Marcelo Lopes.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banco: inativação de UPDATES, reaproveitados como consulta de tela nos documentos de Marketing, e a otimização da TransactionNotification — detalhe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grande destaque: alteração da Transaction caiu de 50 segundos para 1,6 segundo — ganho de 96%. Bloqueio caiu de 3,7s para 1,5s.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 ciclo: migração do ambiente HANA em 60 dias — consolidação da base analítica, com redução esperada de 40% nas consultas críticas.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e abertura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4FD8">
                  <a:alpha val="50000"/>
                </a:srgbClr>
              </a:gs>
              <a:gs pos="65000">
                <a:srgbClr val="2B4FD8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687525" y="3336131"/>
            <a:ext cx="49128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9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SEMANAL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65439" y="3869531"/>
            <a:ext cx="14357122" cy="1138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8571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Apresentação de </a:t>
            </a:r>
            <a:pPr algn="ctr" indent="0" marL="0">
              <a:lnSpc>
                <a:spcPct val="78571"/>
              </a:lnSpc>
              <a:buNone/>
            </a:pPr>
            <a:r>
              <a:rPr lang="en-US" sz="8250" b="1" i="1" dirty="0">
                <a:solidFill>
                  <a:srgbClr val="E8C9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Atividades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5928725" y="5293519"/>
            <a:ext cx="643040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inteligência operacional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23361" y="6293644"/>
            <a:ext cx="4041279" cy="657225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0006" y="6474619"/>
            <a:ext cx="13635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E9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23/03/2026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982075" y="6474619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434446" y="6474619"/>
            <a:ext cx="13635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E9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27/03/2026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242451" y="9410700"/>
            <a:ext cx="18029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D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 </a:t>
            </a:r>
            <a:pPr algn="ctr" indent="0" marL="0">
              <a:buNone/>
            </a:pPr>
            <a:r>
              <a:rPr lang="en-US" sz="180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ChristianW$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4FD8">
                  <a:alpha val="20000"/>
                </a:srgbClr>
              </a:gs>
              <a:gs pos="60000">
                <a:srgbClr val="2B4FD8">
                  <a:alpha val="0"/>
                </a:srgbClr>
              </a:gs>
            </a:gsLst>
            <a:path path="circle">
              <a:fillToRect l="85000" t="0" r="15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23 — 27 MAR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7811750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Resumo Executivo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2790825"/>
            <a:ext cx="4776936" cy="3467100"/>
          </a:xfrm>
          <a:prstGeom prst="roundRect">
            <a:avLst>
              <a:gd name="adj" fmla="val 6593"/>
            </a:avLst>
          </a:prstGeom>
          <a:gradFill rotWithShape="1">
            <a:gsLst>
              <a:gs pos="0">
                <a:srgbClr val="16225C">
                  <a:alpha val="100000"/>
                </a:srgbClr>
              </a:gs>
              <a:gs pos="100000">
                <a:srgbClr val="0D1330">
                  <a:alpha val="100000"/>
                </a:srgbClr>
              </a:gs>
            </a:gsLst>
            <a:lin ang="3000000" scaled="0"/>
          </a:gradFill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4475" y="3295650"/>
            <a:ext cx="395879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9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CONSOLIDADO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14475" y="4133850"/>
            <a:ext cx="422783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9000" dirty="0">
                <a:solidFill>
                  <a:srgbClr val="E8C9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128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1514475" y="5486400"/>
            <a:ext cx="42278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D9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chamados + atividades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1386" y="2790825"/>
            <a:ext cx="3538389" cy="3467100"/>
          </a:xfrm>
          <a:prstGeom prst="roundRect">
            <a:avLst>
              <a:gd name="adj" fmla="val 6593"/>
            </a:avLst>
          </a:prstGeom>
          <a:solidFill>
            <a:srgbClr val="0D0F18"/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1911" y="3648075"/>
            <a:ext cx="30330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Operacional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81911" y="4143375"/>
            <a:ext cx="3033073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6600" dirty="0"/>
          </a:p>
        </p:txBody>
      </p:sp>
      <p:sp>
        <p:nvSpPr>
          <p:cNvPr id="12" name="Shape 10"/>
          <p:cNvSpPr/>
          <p:nvPr/>
        </p:nvSpPr>
        <p:spPr>
          <a:xfrm>
            <a:off x="6481911" y="5362575"/>
            <a:ext cx="609600" cy="38100"/>
          </a:xfrm>
          <a:prstGeom prst="rect">
            <a:avLst/>
          </a:prstGeom>
          <a:solidFill>
            <a:srgbClr val="2B4FD8"/>
          </a:solidFill>
          <a:ln/>
        </p:spPr>
      </p:sp>
      <p:sp>
        <p:nvSpPr>
          <p:cNvPr id="13" name="Shape 11"/>
          <p:cNvSpPr/>
          <p:nvPr/>
        </p:nvSpPr>
        <p:spPr>
          <a:xfrm>
            <a:off x="9896475" y="2790825"/>
            <a:ext cx="3538538" cy="3467100"/>
          </a:xfrm>
          <a:prstGeom prst="roundRect">
            <a:avLst>
              <a:gd name="adj" fmla="val 6593"/>
            </a:avLst>
          </a:prstGeom>
          <a:solidFill>
            <a:srgbClr val="0D0F18"/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7000" y="3648075"/>
            <a:ext cx="30332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Repactuações de Prazo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87000" y="4143375"/>
            <a:ext cx="303323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600" dirty="0"/>
          </a:p>
        </p:txBody>
      </p:sp>
      <p:sp>
        <p:nvSpPr>
          <p:cNvPr id="16" name="Shape 14"/>
          <p:cNvSpPr/>
          <p:nvPr/>
        </p:nvSpPr>
        <p:spPr>
          <a:xfrm>
            <a:off x="10287000" y="5362575"/>
            <a:ext cx="6096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01713" y="2790825"/>
            <a:ext cx="3538538" cy="3467100"/>
          </a:xfrm>
          <a:prstGeom prst="roundRect">
            <a:avLst>
              <a:gd name="adj" fmla="val 6593"/>
            </a:avLst>
          </a:prstGeom>
          <a:solidFill>
            <a:srgbClr val="0D0F18"/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92238" y="3648075"/>
            <a:ext cx="30332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 Manuais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092238" y="4143375"/>
            <a:ext cx="303323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600" dirty="0"/>
          </a:p>
        </p:txBody>
      </p:sp>
      <p:sp>
        <p:nvSpPr>
          <p:cNvPr id="20" name="Shape 18"/>
          <p:cNvSpPr/>
          <p:nvPr/>
        </p:nvSpPr>
        <p:spPr>
          <a:xfrm>
            <a:off x="14092238" y="5362575"/>
            <a:ext cx="609600" cy="38100"/>
          </a:xfrm>
          <a:prstGeom prst="rect">
            <a:avLst/>
          </a:prstGeom>
          <a:solidFill>
            <a:srgbClr val="2B4FD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4FD8">
                  <a:alpha val="20000"/>
                </a:srgbClr>
              </a:gs>
              <a:gs pos="60000">
                <a:srgbClr val="2B4FD8">
                  <a:alpha val="0"/>
                </a:srgbClr>
              </a:gs>
            </a:gsLst>
            <a:path path="circle">
              <a:fillToRect l="15000" t="0" r="85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· SINCRONIZAÇÃO 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7811750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Chamados SULTS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2790825"/>
            <a:ext cx="5232350" cy="1657350"/>
          </a:xfrm>
          <a:prstGeom prst="roundRect">
            <a:avLst>
              <a:gd name="adj" fmla="val 11494"/>
            </a:avLst>
          </a:prstGeom>
          <a:gradFill rotWithShape="1">
            <a:gsLst>
              <a:gs pos="0">
                <a:srgbClr val="2B4FD8">
                  <a:alpha val="10000"/>
                </a:srgbClr>
              </a:gs>
              <a:gs pos="100000">
                <a:srgbClr val="2B4FD8">
                  <a:alpha val="0"/>
                </a:srgbClr>
              </a:gs>
            </a:gsLst>
            <a:lin ang="4200000" scaled="0"/>
          </a:gradFill>
          <a:ln w="9525">
            <a:solidFill>
              <a:srgbClr val="2B4FD8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6375" y="3443288"/>
            <a:ext cx="232960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Chamado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03899" y="3181350"/>
            <a:ext cx="92377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6527750" y="2790825"/>
            <a:ext cx="5232350" cy="1657350"/>
          </a:xfrm>
          <a:prstGeom prst="roundRect">
            <a:avLst>
              <a:gd name="adj" fmla="val 11494"/>
            </a:avLst>
          </a:prstGeom>
          <a:gradFill rotWithShape="1">
            <a:gsLst>
              <a:gs pos="0">
                <a:srgbClr val="2B4FD8">
                  <a:alpha val="10000"/>
                </a:srgbClr>
              </a:gs>
              <a:gs pos="100000">
                <a:srgbClr val="2B4FD8">
                  <a:alpha val="0"/>
                </a:srgbClr>
              </a:gs>
            </a:gsLst>
            <a:lin ang="4200000" scaled="0"/>
          </a:gradFill>
          <a:ln w="9525">
            <a:solidFill>
              <a:srgbClr val="2B4FD8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56375" y="3443288"/>
            <a:ext cx="22924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Andamento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483900" y="3181350"/>
            <a:ext cx="92377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12007751" y="2790825"/>
            <a:ext cx="5232350" cy="1657350"/>
          </a:xfrm>
          <a:prstGeom prst="roundRect">
            <a:avLst>
              <a:gd name="adj" fmla="val 11494"/>
            </a:avLst>
          </a:prstGeom>
          <a:gradFill rotWithShape="1">
            <a:gsLst>
              <a:gs pos="0">
                <a:srgbClr val="D4AF37">
                  <a:alpha val="10000"/>
                </a:srgbClr>
              </a:gs>
              <a:gs pos="100000">
                <a:srgbClr val="D4AF37">
                  <a:alpha val="0"/>
                </a:srgbClr>
              </a:gs>
            </a:gsLst>
            <a:lin ang="4200000" scaled="0"/>
          </a:gradFill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6376" y="3443288"/>
            <a:ext cx="150974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963900" y="3181350"/>
            <a:ext cx="92377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6000" dirty="0"/>
          </a:p>
        </p:txBody>
      </p:sp>
      <p:sp>
        <p:nvSpPr>
          <p:cNvPr id="14" name="Shape 12"/>
          <p:cNvSpPr/>
          <p:nvPr/>
        </p:nvSpPr>
        <p:spPr>
          <a:xfrm>
            <a:off x="1047750" y="4695825"/>
            <a:ext cx="5232350" cy="1657350"/>
          </a:xfrm>
          <a:prstGeom prst="roundRect">
            <a:avLst>
              <a:gd name="adj" fmla="val 11494"/>
            </a:avLst>
          </a:prstGeom>
          <a:gradFill rotWithShape="1">
            <a:gsLst>
              <a:gs pos="0">
                <a:srgbClr val="2B4FD8">
                  <a:alpha val="10000"/>
                </a:srgbClr>
              </a:gs>
              <a:gs pos="100000">
                <a:srgbClr val="2B4FD8">
                  <a:alpha val="0"/>
                </a:srgbClr>
              </a:gs>
            </a:gsLst>
            <a:lin ang="4200000" scaled="0"/>
          </a:gradFill>
          <a:ln w="9525">
            <a:solidFill>
              <a:srgbClr val="2B4FD8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6375" y="5348288"/>
            <a:ext cx="147225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Resolvido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45869" y="5086350"/>
            <a:ext cx="88180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000" dirty="0"/>
          </a:p>
        </p:txBody>
      </p:sp>
      <p:sp>
        <p:nvSpPr>
          <p:cNvPr id="17" name="Shape 15"/>
          <p:cNvSpPr/>
          <p:nvPr/>
        </p:nvSpPr>
        <p:spPr>
          <a:xfrm>
            <a:off x="6527750" y="4695825"/>
            <a:ext cx="5232350" cy="1657350"/>
          </a:xfrm>
          <a:prstGeom prst="roundRect">
            <a:avLst>
              <a:gd name="adj" fmla="val 11494"/>
            </a:avLst>
          </a:prstGeom>
          <a:gradFill rotWithShape="1">
            <a:gsLst>
              <a:gs pos="0">
                <a:srgbClr val="2B4FD8">
                  <a:alpha val="10000"/>
                </a:srgbClr>
              </a:gs>
              <a:gs pos="100000">
                <a:srgbClr val="2B4FD8">
                  <a:alpha val="0"/>
                </a:srgbClr>
              </a:gs>
            </a:gsLst>
            <a:lin ang="4200000" scaled="0"/>
          </a:gradFill>
          <a:ln w="9525">
            <a:solidFill>
              <a:srgbClr val="2B4FD8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6375" y="5348288"/>
            <a:ext cx="28143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Aguard. Solicitante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07613" y="5086350"/>
            <a:ext cx="50006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0" dirty="0"/>
          </a:p>
        </p:txBody>
      </p:sp>
      <p:sp>
        <p:nvSpPr>
          <p:cNvPr id="20" name="Shape 18"/>
          <p:cNvSpPr/>
          <p:nvPr/>
        </p:nvSpPr>
        <p:spPr>
          <a:xfrm>
            <a:off x="12007751" y="4695825"/>
            <a:ext cx="5232350" cy="1657350"/>
          </a:xfrm>
          <a:prstGeom prst="roundRect">
            <a:avLst>
              <a:gd name="adj" fmla="val 11494"/>
            </a:avLst>
          </a:prstGeom>
          <a:gradFill rotWithShape="1">
            <a:gsLst>
              <a:gs pos="0">
                <a:srgbClr val="2B4FD8">
                  <a:alpha val="10000"/>
                </a:srgbClr>
              </a:gs>
              <a:gs pos="100000">
                <a:srgbClr val="2B4FD8">
                  <a:alpha val="0"/>
                </a:srgbClr>
              </a:gs>
            </a:gsLst>
            <a:lin ang="4200000" scaled="0"/>
          </a:gradFill>
          <a:ln w="9525">
            <a:solidFill>
              <a:srgbClr val="2B4FD8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6376" y="5348288"/>
            <a:ext cx="32057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Aguard. Responsável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387614" y="5086350"/>
            <a:ext cx="50006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23" name="Shape 21"/>
          <p:cNvSpPr/>
          <p:nvPr/>
        </p:nvSpPr>
        <p:spPr>
          <a:xfrm>
            <a:off x="1047750" y="9234488"/>
            <a:ext cx="95250" cy="9525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9134475"/>
            <a:ext cx="70112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chamados movimentados no período · 41% finalizados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59367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D4AF37">
                    <a:alpha val="4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908125" y="1285875"/>
            <a:ext cx="65289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DE ATIVIDADES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08125" y="1704975"/>
            <a:ext cx="652895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SAP Business One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3124200"/>
            <a:ext cx="7953375" cy="2705100"/>
          </a:xfrm>
          <a:prstGeom prst="rect">
            <a:avLst/>
          </a:prstGeom>
          <a:solidFill>
            <a:srgbClr val="0D0F18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3124200"/>
            <a:ext cx="38100" cy="2705100"/>
          </a:xfrm>
          <a:prstGeom prst="rect">
            <a:avLst/>
          </a:prstGeom>
          <a:solidFill>
            <a:srgbClr val="2B4FD8"/>
          </a:solidFill>
          <a:ln/>
        </p:spPr>
      </p:sp>
      <p:sp>
        <p:nvSpPr>
          <p:cNvPr id="7" name="Text 5"/>
          <p:cNvSpPr/>
          <p:nvPr/>
        </p:nvSpPr>
        <p:spPr>
          <a:xfrm>
            <a:off x="1581150" y="3581400"/>
            <a:ext cx="761714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de Comissão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81150" y="4257675"/>
            <a:ext cx="71324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Correção do cálculo na coluna de Comissão nos Documentos de Marketing.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86875" y="3124200"/>
            <a:ext cx="7953375" cy="2705100"/>
          </a:xfrm>
          <a:prstGeom prst="rect">
            <a:avLst/>
          </a:prstGeom>
          <a:solidFill>
            <a:srgbClr val="0D0F18"/>
          </a:solidFill>
          <a:ln/>
        </p:spPr>
      </p:sp>
      <p:sp>
        <p:nvSpPr>
          <p:cNvPr id="10" name="Shape 8"/>
          <p:cNvSpPr/>
          <p:nvPr/>
        </p:nvSpPr>
        <p:spPr>
          <a:xfrm>
            <a:off x="9286875" y="3124200"/>
            <a:ext cx="38100" cy="2705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9820275" y="3581400"/>
            <a:ext cx="761714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de Margem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820275" y="4257675"/>
            <a:ext cx="761714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 nos cálculos e campos de Margem.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820275" y="5000625"/>
            <a:ext cx="761714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Modificação da visualização do valor real no BD.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651867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D4AF37">
                    <a:alpha val="4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966317" y="1285875"/>
            <a:ext cx="71309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DE ATIVIDADES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66317" y="1704975"/>
            <a:ext cx="7130921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Queries (Consultas)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3124200"/>
            <a:ext cx="8676382" cy="3238500"/>
          </a:xfrm>
          <a:prstGeom prst="rect">
            <a:avLst/>
          </a:prstGeom>
          <a:solidFill>
            <a:srgbClr val="0D0F18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3124200"/>
            <a:ext cx="38100" cy="3238500"/>
          </a:xfrm>
          <a:prstGeom prst="rect">
            <a:avLst/>
          </a:prstGeom>
          <a:solidFill>
            <a:srgbClr val="2B4FD8"/>
          </a:solidFill>
          <a:ln/>
        </p:spPr>
      </p:sp>
      <p:sp>
        <p:nvSpPr>
          <p:cNvPr id="7" name="Text 5"/>
          <p:cNvSpPr/>
          <p:nvPr/>
        </p:nvSpPr>
        <p:spPr>
          <a:xfrm>
            <a:off x="1619250" y="3619500"/>
            <a:ext cx="832863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do ICMS para Entrega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19250" y="4314825"/>
            <a:ext cx="779862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de consulta na tela de Entrega para emissão de nota fiscal pelo portal.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19250" y="5534025"/>
            <a:ext cx="83286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Consulta solicitada por Marcelo Lopes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009882" y="3124200"/>
            <a:ext cx="7230368" cy="3238500"/>
          </a:xfrm>
          <a:prstGeom prst="roundRect">
            <a:avLst>
              <a:gd name="adj" fmla="val 6471"/>
            </a:avLst>
          </a:prstGeom>
          <a:gradFill rotWithShape="1">
            <a:gsLst>
              <a:gs pos="0">
                <a:srgbClr val="16225C">
                  <a:alpha val="100000"/>
                </a:srgbClr>
              </a:gs>
              <a:gs pos="100000">
                <a:srgbClr val="0D1330">
                  <a:alpha val="100000"/>
                </a:srgbClr>
              </a:gs>
            </a:gsLst>
            <a:lin ang="3600000" scaled="0"/>
          </a:gradFill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52807" y="4010025"/>
            <a:ext cx="67589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9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ATENDIDO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52807" y="4448175"/>
            <a:ext cx="632885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→ ICMS → Nota fiscal no portal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636836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D4AF37">
                    <a:alpha val="4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951286" y="1285875"/>
            <a:ext cx="75912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DE ATIVIDADES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1286" y="1704975"/>
            <a:ext cx="759127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Banco de Dados (BD)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3124200"/>
            <a:ext cx="7953375" cy="3124200"/>
          </a:xfrm>
          <a:prstGeom prst="rect">
            <a:avLst/>
          </a:prstGeom>
          <a:solidFill>
            <a:srgbClr val="0D0F18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3124200"/>
            <a:ext cx="38100" cy="3124200"/>
          </a:xfrm>
          <a:prstGeom prst="rect">
            <a:avLst/>
          </a:prstGeom>
          <a:solidFill>
            <a:srgbClr val="2B4FD8"/>
          </a:solidFill>
          <a:ln/>
        </p:spPr>
      </p:sp>
      <p:sp>
        <p:nvSpPr>
          <p:cNvPr id="7" name="Text 5"/>
          <p:cNvSpPr/>
          <p:nvPr/>
        </p:nvSpPr>
        <p:spPr>
          <a:xfrm>
            <a:off x="1581150" y="3581400"/>
            <a:ext cx="761714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81150" y="4257675"/>
            <a:ext cx="71324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Inativação de UPDATES, reutilizados em Consulta de Tela nos documentos de Marketing.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81150" y="5457825"/>
            <a:ext cx="76171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Nem todos os UPDATES foram inativados.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86875" y="3124200"/>
            <a:ext cx="7953375" cy="3124200"/>
          </a:xfrm>
          <a:prstGeom prst="rect">
            <a:avLst/>
          </a:prstGeom>
          <a:solidFill>
            <a:srgbClr val="0D0F18"/>
          </a:solidFill>
          <a:ln/>
        </p:spPr>
      </p:sp>
      <p:sp>
        <p:nvSpPr>
          <p:cNvPr id="11" name="Shape 9"/>
          <p:cNvSpPr/>
          <p:nvPr/>
        </p:nvSpPr>
        <p:spPr>
          <a:xfrm>
            <a:off x="9286875" y="3124200"/>
            <a:ext cx="38100" cy="3124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9820275" y="3581400"/>
            <a:ext cx="761714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da TransactionNotification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820275" y="4257675"/>
            <a:ext cx="71324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Aperfeiçoamento das consultas, condições e descrição dos bloqueios.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820275" y="5457825"/>
            <a:ext cx="76171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Ganho detalhado a seguir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4FD8">
                  <a:alpha val="55000"/>
                </a:srgbClr>
              </a:gs>
              <a:gs pos="70000">
                <a:srgbClr val="2B4FD8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2990277" y="1795463"/>
            <a:ext cx="12307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9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 DA SEMANA · TRANSACTIONNOTIFICATION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963158" y="2309813"/>
            <a:ext cx="83615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Ganho de Performance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7013637" y="3614738"/>
            <a:ext cx="4260577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4919"/>
              </a:lnSpc>
              <a:buNone/>
            </a:pPr>
            <a:r>
              <a:rPr lang="en-US" sz="17250" dirty="0">
                <a:solidFill>
                  <a:srgbClr val="E8C9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96%</a:t>
            </a:r>
            <a:endParaRPr lang="en-US" sz="17250" dirty="0"/>
          </a:p>
        </p:txBody>
      </p:sp>
      <p:sp>
        <p:nvSpPr>
          <p:cNvPr id="6" name="Shape 4"/>
          <p:cNvSpPr/>
          <p:nvPr/>
        </p:nvSpPr>
        <p:spPr>
          <a:xfrm>
            <a:off x="6215211" y="6300788"/>
            <a:ext cx="1785342" cy="1476375"/>
          </a:xfrm>
          <a:prstGeom prst="roundRect">
            <a:avLst>
              <a:gd name="adj" fmla="val 1161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4786" y="6557963"/>
            <a:ext cx="9661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D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4786" y="6900863"/>
            <a:ext cx="96619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343454" y="6777038"/>
            <a:ext cx="5334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219754" y="6300788"/>
            <a:ext cx="2852886" cy="1476375"/>
          </a:xfrm>
          <a:prstGeom prst="roundRect">
            <a:avLst>
              <a:gd name="adj" fmla="val 11613"/>
            </a:avLst>
          </a:prstGeom>
          <a:solidFill>
            <a:srgbClr val="D4AF37">
              <a:alpha val="7000"/>
            </a:srgbClr>
          </a:solidFill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69552" y="6557963"/>
            <a:ext cx="21532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69552" y="6900863"/>
            <a:ext cx="215329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1s60ms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169098" y="8196262"/>
            <a:ext cx="79498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alteração da Transaction · bloqueio: 3s70ms → 1s50ms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4FD8">
                  <a:alpha val="20000"/>
                </a:srgbClr>
              </a:gs>
              <a:gs pos="60000">
                <a:srgbClr val="2B4FD8">
                  <a:alpha val="0"/>
                </a:srgbClr>
              </a:gs>
            </a:gsLst>
            <a:path path="circle">
              <a:fillToRect l="85000" t="0" r="15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 CONTÍNUA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7811750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Roadmap de Ações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2790825"/>
            <a:ext cx="8990707" cy="3505200"/>
          </a:xfrm>
          <a:prstGeom prst="roundRect">
            <a:avLst>
              <a:gd name="adj" fmla="val 6522"/>
            </a:avLst>
          </a:prstGeom>
          <a:solidFill>
            <a:srgbClr val="0D0F18"/>
          </a:solidFill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8775" y="3333750"/>
            <a:ext cx="861152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Migração de ambiente HANA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628775" y="4219575"/>
            <a:ext cx="861152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Consolidação da base analítica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628775" y="4953000"/>
            <a:ext cx="2191792" cy="514350"/>
          </a:xfrm>
          <a:prstGeom prst="roundRect">
            <a:avLst>
              <a:gd name="adj" fmla="val 50000"/>
            </a:avLst>
          </a:prstGeom>
          <a:ln w="9525">
            <a:solidFill>
              <a:srgbClr val="FF6B7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5000" y="5076825"/>
            <a:ext cx="17155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Dificuldade: Alta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72967" y="4953000"/>
            <a:ext cx="1911995" cy="514350"/>
          </a:xfrm>
          <a:prstGeom prst="roundRect">
            <a:avLst>
              <a:gd name="adj" fmla="val 50000"/>
            </a:avLst>
          </a:prstGeom>
          <a:solidFill>
            <a:srgbClr val="2B4FD8">
              <a:alpha val="10000"/>
            </a:srgbClr>
          </a:solidFill>
          <a:ln w="9525">
            <a:solidFill>
              <a:srgbClr val="2B4FD8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9192" y="5076825"/>
            <a:ext cx="14357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37362" y="4953000"/>
            <a:ext cx="1924794" cy="5143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3587" y="5076825"/>
            <a:ext cx="14485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Ciclo: 60 dias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324207" y="2790825"/>
            <a:ext cx="6916043" cy="3505200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16225C">
                  <a:alpha val="100000"/>
                </a:srgbClr>
              </a:gs>
              <a:gs pos="100000">
                <a:srgbClr val="0D1330">
                  <a:alpha val="100000"/>
                </a:srgbClr>
              </a:gs>
            </a:gsLst>
            <a:lin ang="3600000" scaled="0"/>
          </a:gradFill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05232" y="3333750"/>
            <a:ext cx="63293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9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ESPERADO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05232" y="3829050"/>
            <a:ext cx="6329392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188"/>
              </a:lnSpc>
              <a:buNone/>
            </a:pPr>
            <a:r>
              <a:rPr lang="en-US" sz="7500" dirty="0">
                <a:solidFill>
                  <a:srgbClr val="E8C9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-40%</a:t>
            </a:r>
            <a:endParaRPr lang="en-US" sz="7500" dirty="0"/>
          </a:p>
        </p:txBody>
      </p:sp>
      <p:sp>
        <p:nvSpPr>
          <p:cNvPr id="17" name="Text 15"/>
          <p:cNvSpPr/>
          <p:nvPr/>
        </p:nvSpPr>
        <p:spPr>
          <a:xfrm>
            <a:off x="10905232" y="5010150"/>
            <a:ext cx="592661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8D9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tempo das consultas críticas, com maior previsibilidade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4FD8">
                  <a:alpha val="50000"/>
                </a:srgbClr>
              </a:gs>
              <a:gs pos="65000">
                <a:srgbClr val="2B4FD8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4272461" y="3328988"/>
            <a:ext cx="97429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9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SEMANAL · 23 — 27 MAR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56249" y="3881438"/>
            <a:ext cx="4975503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Obrigado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6383506" y="5567363"/>
            <a:ext cx="55209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e próximos passos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71443" y="6662738"/>
            <a:ext cx="19530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 ChristianW$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869138" y="6781800"/>
            <a:ext cx="57150" cy="5715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8246291" y="6662738"/>
            <a:ext cx="46947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9A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Conectando código, café e criatividade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2026-07-17T22:37:14Z</dcterms:created>
  <dcterms:modified xsi:type="dcterms:W3CDTF">2026-07-17T22:37:14Z</dcterms:modified>
</cp:coreProperties>
</file>